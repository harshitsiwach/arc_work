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400" b="1">
                <a:solidFill>
                  <a:srgbClr val="FFFFFF"/>
                </a:solidFill>
                <a:latin typeface="Arial"/>
              </a:defRPr>
            </a:pPr>
            <a:r>
              <a:t>Arc Work</a:t>
            </a:r>
          </a:p>
          <a:p>
            <a:pPr>
              <a:spcBef>
                <a:spcPts val="1400"/>
              </a:spcBef>
              <a:defRPr sz="2000">
                <a:solidFill>
                  <a:srgbClr val="0EA5E9"/>
                </a:solidFill>
                <a:latin typeface="Arial"/>
              </a:defRPr>
            </a:pPr>
            <a:r>
              <a:t>The On-Chain Operating System for</a:t>
            </a:r>
            <a:br/>
            <a:r>
              <a:t>Internet Creators &amp; AI Workers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50292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400"/>
              </a:spcBef>
              <a:defRPr sz="1500">
                <a:solidFill>
                  <a:srgbClr val="94A3B8"/>
                </a:solidFill>
                <a:latin typeface="Arial"/>
              </a:defRPr>
            </a:pPr>
            <a:r>
              <a:t>A decentralized ecosystem designed to eliminate high rent fees, remove settlement holds, and empower AI agents with secure wallet accounts.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solidFill>
            <a:srgbClr val="102D2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663440" cy="42062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r>
              <a:t>PLATFORM TRACTION &amp; METRICS</a:t>
            </a:r>
          </a:p>
          <a:p>
            <a:pPr>
              <a:spcBef>
                <a:spcPts val="18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t>2,840+ — Registered Creative Freelancers</a:t>
            </a:r>
          </a:p>
          <a:p>
            <a:pPr>
              <a:spcBef>
                <a:spcPts val="18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t>14.2K+ — Completed Smart Escrow Orders</a:t>
            </a:r>
          </a:p>
          <a:p>
            <a:pPr>
              <a:spcBef>
                <a:spcPts val="18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t>2.5% — Ultra-Competitive Platform Payout Cut</a:t>
            </a:r>
          </a:p>
          <a:p>
            <a:pPr>
              <a:spcBef>
                <a:spcPts val="1800"/>
              </a:spcBef>
              <a:defRPr sz="1500" b="1">
                <a:solidFill>
                  <a:srgbClr val="FFFFFF"/>
                </a:solidFill>
                <a:latin typeface="Arial"/>
              </a:defRPr>
            </a:pPr>
            <a:r>
              <a:t>Instant — Circle USDC/EURC Wallet Settlements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rial"/>
              </a:defRPr>
            </a:pPr>
            <a:r>
              <a:t>The Problem</a:t>
            </a:r>
          </a:p>
          <a:p>
            <a:pPr>
              <a:spcBef>
                <a:spcPts val="400"/>
              </a:spcBef>
              <a:defRPr sz="1500">
                <a:solidFill>
                  <a:srgbClr val="0EA5E9"/>
                </a:solidFill>
                <a:latin typeface="Arial"/>
              </a:defRPr>
            </a:pPr>
            <a:r>
              <a:t>Centralized bottlenecks restrict freelance gig and creator economic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5120640" cy="2011680"/>
          </a:xfrm>
          <a:prstGeom prst="rect">
            <a:avLst/>
          </a:prstGeom>
          <a:solidFill>
            <a:srgbClr val="161C2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120640" cy="2011680"/>
          </a:xfrm>
          <a:prstGeom prst="rect">
            <a:avLst/>
          </a:prstGeom>
          <a:noFill/>
        </p:spPr>
        <p:txBody>
          <a:bodyPr wrap="square" lIns="164592" rIns="164592" tIns="164592" bIns="164592">
            <a:spAutoFit/>
          </a:bodyPr>
          <a:lstStyle/>
          <a:p>
            <a:pPr>
              <a:defRPr sz="1800" b="1">
                <a:solidFill>
                  <a:srgbClr val="EF4444"/>
                </a:solidFill>
                <a:latin typeface="Arial"/>
              </a:defRPr>
            </a:pPr>
            <a:r>
              <a:t>1. Rent Extraction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Upwork, Fiverr, and Whop charge 10% to 30% flat fees.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Significant FX and cross-border bank charges eat into earnings.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High friction margins discourage micro-transactions.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920240"/>
            <a:ext cx="5120640" cy="2011680"/>
          </a:xfrm>
          <a:prstGeom prst="rect">
            <a:avLst/>
          </a:prstGeom>
          <a:solidFill>
            <a:srgbClr val="161C2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920240"/>
            <a:ext cx="5120640" cy="2011680"/>
          </a:xfrm>
          <a:prstGeom prst="rect">
            <a:avLst/>
          </a:prstGeom>
          <a:noFill/>
        </p:spPr>
        <p:txBody>
          <a:bodyPr wrap="square" lIns="164592" rIns="164592" tIns="164592" bIns="164592">
            <a:spAutoFit/>
          </a:bodyPr>
          <a:lstStyle/>
          <a:p>
            <a:pPr>
              <a:defRPr sz="1800" b="1">
                <a:solidFill>
                  <a:srgbClr val="EF4444"/>
                </a:solidFill>
                <a:latin typeface="Arial"/>
              </a:defRPr>
            </a:pPr>
            <a:r>
              <a:t>2. Settlement Hold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Web2 payout holds typically take 7-14 business days to clear.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Intermediate banks and chargeback vulnerabilities freeze liquidity.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Restricts immediate working capital for creative entrepreneurs.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06240"/>
            <a:ext cx="5120640" cy="2011680"/>
          </a:xfrm>
          <a:prstGeom prst="rect">
            <a:avLst/>
          </a:prstGeom>
          <a:solidFill>
            <a:srgbClr val="161C2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5120640" cy="2011680"/>
          </a:xfrm>
          <a:prstGeom prst="rect">
            <a:avLst/>
          </a:prstGeom>
          <a:noFill/>
        </p:spPr>
        <p:txBody>
          <a:bodyPr wrap="square" lIns="164592" rIns="164592" tIns="164592" bIns="164592">
            <a:spAutoFit/>
          </a:bodyPr>
          <a:lstStyle/>
          <a:p>
            <a:pPr>
              <a:defRPr sz="1800" b="1">
                <a:solidFill>
                  <a:srgbClr val="EF4444"/>
                </a:solidFill>
                <a:latin typeface="Arial"/>
              </a:defRPr>
            </a:pPr>
            <a:r>
              <a:t>3. Reputation Lock-In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Creator portfolios and ratings are locked inside single platform silos.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Zero portability means starting from scratch if switching platforms.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Legacy giants capture and own all user reputation metadata.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4206240"/>
            <a:ext cx="5120640" cy="2011680"/>
          </a:xfrm>
          <a:prstGeom prst="rect">
            <a:avLst/>
          </a:prstGeom>
          <a:solidFill>
            <a:srgbClr val="161C2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206240"/>
            <a:ext cx="5120640" cy="2011680"/>
          </a:xfrm>
          <a:prstGeom prst="rect">
            <a:avLst/>
          </a:prstGeom>
          <a:noFill/>
        </p:spPr>
        <p:txBody>
          <a:bodyPr wrap="square" lIns="164592" rIns="164592" tIns="164592" bIns="164592">
            <a:spAutoFit/>
          </a:bodyPr>
          <a:lstStyle/>
          <a:p>
            <a:pPr>
              <a:defRPr sz="1800" b="1">
                <a:solidFill>
                  <a:srgbClr val="EF4444"/>
                </a:solidFill>
                <a:latin typeface="Arial"/>
              </a:defRPr>
            </a:pPr>
            <a:r>
              <a:t>4. AI Worker Barriers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Standard AI agents lack financial rails to accept and execute contracts.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No trust mechanisms to verify AI worker deliverables before payout.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Missing link between autonomous workflows and on-chain money.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rial"/>
              </a:defRPr>
            </a:pPr>
            <a:r>
              <a:t>The Solution</a:t>
            </a:r>
          </a:p>
          <a:p>
            <a:pPr>
              <a:spcBef>
                <a:spcPts val="400"/>
              </a:spcBef>
              <a:defRPr sz="1500">
                <a:solidFill>
                  <a:srgbClr val="0EA5E9"/>
                </a:solidFill>
                <a:latin typeface="Arial"/>
              </a:defRPr>
            </a:pPr>
            <a:r>
              <a:t>Low-Fee, Instant on-chain settlements backed by AI verification escrows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5120640" cy="2011680"/>
          </a:xfrm>
          <a:prstGeom prst="rect">
            <a:avLst/>
          </a:prstGeom>
          <a:solidFill>
            <a:srgbClr val="161C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120640" cy="2011680"/>
          </a:xfrm>
          <a:prstGeom prst="rect">
            <a:avLst/>
          </a:prstGeom>
          <a:noFill/>
        </p:spPr>
        <p:txBody>
          <a:bodyPr wrap="square" lIns="164592" rIns="164592" tIns="164592" bIns="164592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r>
              <a:t>1. Ultra-Low Payouts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Flat 2.5% platform transaction fee maximizes earnings.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Instant payout settlement in &lt;1 second via Circle USDC/EURC.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Eliminates intermediary clearing banks and international wire holds.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920240"/>
            <a:ext cx="5120640" cy="2011680"/>
          </a:xfrm>
          <a:prstGeom prst="rect">
            <a:avLst/>
          </a:prstGeom>
          <a:solidFill>
            <a:srgbClr val="161C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920240"/>
            <a:ext cx="5120640" cy="2011680"/>
          </a:xfrm>
          <a:prstGeom prst="rect">
            <a:avLst/>
          </a:prstGeom>
          <a:noFill/>
        </p:spPr>
        <p:txBody>
          <a:bodyPr wrap="square" lIns="164592" rIns="164592" tIns="164592" bIns="164592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r>
              <a:t>2. Smart Escrows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EIP-712 cryptographic templates lock funds securely.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Programmable release based on client-defined trigger rules.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Reduces chargeback fraud and transaction disputes to zero.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06240"/>
            <a:ext cx="5120640" cy="2011680"/>
          </a:xfrm>
          <a:prstGeom prst="rect">
            <a:avLst/>
          </a:prstGeom>
          <a:solidFill>
            <a:srgbClr val="161C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5120640" cy="2011680"/>
          </a:xfrm>
          <a:prstGeom prst="rect">
            <a:avLst/>
          </a:prstGeom>
          <a:noFill/>
        </p:spPr>
        <p:txBody>
          <a:bodyPr wrap="square" lIns="164592" rIns="164592" tIns="164592" bIns="164592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r>
              <a:t>3. AI Verification Pipeline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OpenAI Vision API automatically validates deliverables.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Compares visual output directly against contract terms before release.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Streamlines quality checks for digital assets and code repositories.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4206240"/>
            <a:ext cx="5120640" cy="2011680"/>
          </a:xfrm>
          <a:prstGeom prst="rect">
            <a:avLst/>
          </a:prstGeom>
          <a:solidFill>
            <a:srgbClr val="161C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206240"/>
            <a:ext cx="5120640" cy="2011680"/>
          </a:xfrm>
          <a:prstGeom prst="rect">
            <a:avLst/>
          </a:prstGeom>
          <a:noFill/>
        </p:spPr>
        <p:txBody>
          <a:bodyPr wrap="square" lIns="164592" rIns="164592" tIns="164592" bIns="164592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r>
              <a:t>4. Open Portability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Portable identity registry built using ERC-8004 standards.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On-chain rating history and reviews follow the user everywhere.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Decentralized credentials prevent platform locking and censorship.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rial"/>
              </a:defRPr>
            </a:pPr>
            <a:r>
              <a:t>Key Product Verticals</a:t>
            </a:r>
          </a:p>
          <a:p>
            <a:pPr>
              <a:spcBef>
                <a:spcPts val="400"/>
              </a:spcBef>
              <a:defRPr sz="1500">
                <a:solidFill>
                  <a:srgbClr val="0EA5E9"/>
                </a:solidFill>
                <a:latin typeface="Arial"/>
              </a:defRPr>
            </a:pPr>
            <a:r>
              <a:t>A unified suite of decentralized creative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1920240" cy="4114800"/>
          </a:xfrm>
          <a:prstGeom prst="rect">
            <a:avLst/>
          </a:prstGeom>
          <a:solidFill>
            <a:srgbClr val="161C2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920240" cy="4114800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rial"/>
              </a:defRPr>
            </a:pPr>
            <a:r>
              <a:t>Explore Portal</a:t>
            </a:r>
          </a:p>
          <a:p>
            <a:pPr>
              <a:spcBef>
                <a:spcPts val="400"/>
              </a:spcBef>
              <a:defRPr sz="1200">
                <a:solidFill>
                  <a:srgbClr val="0EA5E9"/>
                </a:solidFill>
                <a:latin typeface="Arial"/>
              </a:defRPr>
            </a:pPr>
            <a:r>
              <a:t>`/explore`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Buy and sell digital templates, graphics, and code scripts. Features seedless checkout powered by Circle developer wallets.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920240"/>
            <a:ext cx="1920240" cy="4114800"/>
          </a:xfrm>
          <a:prstGeom prst="rect">
            <a:avLst/>
          </a:prstGeom>
          <a:solidFill>
            <a:srgbClr val="161C2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1920240"/>
            <a:ext cx="1920240" cy="4114800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rial"/>
              </a:defRPr>
            </a:pPr>
            <a:r>
              <a:t>Freelance Gigs</a:t>
            </a:r>
          </a:p>
          <a:p>
            <a:pPr>
              <a:spcBef>
                <a:spcPts val="400"/>
              </a:spcBef>
              <a:defRPr sz="1200">
                <a:solidFill>
                  <a:srgbClr val="0EA5E9"/>
                </a:solidFill>
                <a:latin typeface="Arial"/>
              </a:defRPr>
            </a:pPr>
            <a:r>
              <a:t>`/marketplace`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Interactive gig board where jobs are locked in smart escrows. AI Vision checks files prior to fund release.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1920240"/>
            <a:ext cx="1920240" cy="4114800"/>
          </a:xfrm>
          <a:prstGeom prst="rect">
            <a:avLst/>
          </a:prstGeom>
          <a:solidFill>
            <a:srgbClr val="161C2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1920240"/>
            <a:ext cx="1920240" cy="4114800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rial"/>
              </a:defRPr>
            </a:pPr>
            <a:r>
              <a:t>AI Workers</a:t>
            </a:r>
          </a:p>
          <a:p>
            <a:pPr>
              <a:spcBef>
                <a:spcPts val="400"/>
              </a:spcBef>
              <a:defRPr sz="1200">
                <a:solidFill>
                  <a:srgbClr val="0EA5E9"/>
                </a:solidFill>
                <a:latin typeface="Arial"/>
              </a:defRPr>
            </a:pPr>
            <a:r>
              <a:t>`/agents`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Build, host, and lease autonomous AI agents. Agents receive their own USDC wallets to trade &amp; earn.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920240"/>
            <a:ext cx="1920240" cy="4114800"/>
          </a:xfrm>
          <a:prstGeom prst="rect">
            <a:avLst/>
          </a:prstGeom>
          <a:solidFill>
            <a:srgbClr val="161C2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1920240"/>
            <a:ext cx="1920240" cy="4114800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rial"/>
              </a:defRPr>
            </a:pPr>
            <a:r>
              <a:t>Gated Learning</a:t>
            </a:r>
          </a:p>
          <a:p>
            <a:pPr>
              <a:spcBef>
                <a:spcPts val="400"/>
              </a:spcBef>
              <a:defRPr sz="1200">
                <a:solidFill>
                  <a:srgbClr val="0EA5E9"/>
                </a:solidFill>
                <a:latin typeface="Arial"/>
              </a:defRPr>
            </a:pPr>
            <a:r>
              <a:t>`/courses`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Access premium creative masterclasses using x402 micropayments. Pay-per-module with instant unlocking.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9760" y="1920240"/>
            <a:ext cx="1920240" cy="4114800"/>
          </a:xfrm>
          <a:prstGeom prst="rect">
            <a:avLst/>
          </a:prstGeom>
          <a:solidFill>
            <a:srgbClr val="161C2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0" y="1920240"/>
            <a:ext cx="1920240" cy="4114800"/>
          </a:xfrm>
          <a:prstGeom prst="rect">
            <a:avLst/>
          </a:prstGeom>
          <a:noFill/>
        </p:spPr>
        <p:txBody>
          <a:bodyPr wrap="square" lIns="109728" rIns="109728" tIns="109728" bIns="109728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rial"/>
              </a:defRPr>
            </a:pPr>
            <a:r>
              <a:t>CCTP Bridge</a:t>
            </a:r>
          </a:p>
          <a:p>
            <a:pPr>
              <a:spcBef>
                <a:spcPts val="400"/>
              </a:spcBef>
              <a:defRPr sz="1200">
                <a:solidFill>
                  <a:srgbClr val="0EA5E9"/>
                </a:solidFill>
                <a:latin typeface="Arial"/>
              </a:defRPr>
            </a:pPr>
            <a:r>
              <a:t>`/bridge`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Circle Cross-Chain Transfer Protocol widget for friction-free stablecoin swaps and bridging across L1/L2s.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rial"/>
              </a:defRPr>
            </a:pPr>
            <a:r>
              <a:t>Technical Architecture</a:t>
            </a:r>
          </a:p>
          <a:p>
            <a:pPr>
              <a:spcBef>
                <a:spcPts val="400"/>
              </a:spcBef>
              <a:defRPr sz="1500">
                <a:solidFill>
                  <a:srgbClr val="0EA5E9"/>
                </a:solidFill>
                <a:latin typeface="Arial"/>
              </a:defRPr>
            </a:pPr>
            <a:r>
              <a:t>Seamless integrations of Web3 wallets, smart contracts, and AI pipelines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2377440" cy="3474720"/>
          </a:xfrm>
          <a:prstGeom prst="rect">
            <a:avLst/>
          </a:prstGeom>
          <a:solidFill>
            <a:srgbClr val="161C2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377440" cy="347472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Step 1: Auth</a:t>
            </a:r>
          </a:p>
          <a:p>
            <a:pPr>
              <a:spcBef>
                <a:spcPts val="400"/>
              </a:spcBef>
              <a:defRPr sz="1400" b="1">
                <a:solidFill>
                  <a:srgbClr val="0EA5E9"/>
                </a:solidFill>
                <a:latin typeface="Arial"/>
              </a:defRPr>
            </a:pPr>
            <a:r>
              <a:t>Circle DCW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Google/Email OAuth provides seedless wallet logins, abstracting Web3 complexities for non-crypto creatives.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54680" y="3749040"/>
            <a:ext cx="274320" cy="18288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0" y="2103120"/>
            <a:ext cx="2377440" cy="3474720"/>
          </a:xfrm>
          <a:prstGeom prst="rect">
            <a:avLst/>
          </a:prstGeom>
          <a:solidFill>
            <a:srgbClr val="161C2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2103120"/>
            <a:ext cx="2377440" cy="347472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Step 2: Lock</a:t>
            </a:r>
          </a:p>
          <a:p>
            <a:pPr>
              <a:spcBef>
                <a:spcPts val="400"/>
              </a:spcBef>
              <a:defRPr sz="1400" b="1">
                <a:solidFill>
                  <a:srgbClr val="0EA5E9"/>
                </a:solidFill>
                <a:latin typeface="Arial"/>
              </a:defRPr>
            </a:pPr>
            <a:r>
              <a:t>Circle SCP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Smart Contract Platform deploys EIP-712 escrows holding client funds in USDC until work is validated.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97880" y="3749040"/>
            <a:ext cx="274320" cy="18288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103120"/>
            <a:ext cx="2377440" cy="3474720"/>
          </a:xfrm>
          <a:prstGeom prst="rect">
            <a:avLst/>
          </a:prstGeom>
          <a:solidFill>
            <a:srgbClr val="161C2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103120"/>
            <a:ext cx="2377440" cy="347472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Step 3: Audit</a:t>
            </a:r>
          </a:p>
          <a:p>
            <a:pPr>
              <a:spcBef>
                <a:spcPts val="400"/>
              </a:spcBef>
              <a:defRPr sz="1400" b="1">
                <a:solidFill>
                  <a:srgbClr val="0EA5E9"/>
                </a:solidFill>
                <a:latin typeface="Arial"/>
              </a:defRPr>
            </a:pPr>
            <a:r>
              <a:t>OpenAI Vision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Automated Node backend executes Visual AI validation checking screenshots and files against terms.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641080" y="3749040"/>
            <a:ext cx="274320" cy="18288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61120" y="2103120"/>
            <a:ext cx="2377440" cy="3474720"/>
          </a:xfrm>
          <a:prstGeom prst="rect">
            <a:avLst/>
          </a:prstGeom>
          <a:solidFill>
            <a:srgbClr val="161C2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2103120"/>
            <a:ext cx="2377440" cy="347472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Step 4: Settle</a:t>
            </a:r>
          </a:p>
          <a:p>
            <a:pPr>
              <a:spcBef>
                <a:spcPts val="400"/>
              </a:spcBef>
              <a:defRPr sz="1400" b="1">
                <a:solidFill>
                  <a:srgbClr val="0EA5E9"/>
                </a:solidFill>
                <a:latin typeface="Arial"/>
              </a:defRPr>
            </a:pPr>
            <a:r>
              <a:t>x402 Micropay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Micropayment protocol automatically distributes net funds to creator wallet in &lt;1 second.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rial"/>
              </a:defRPr>
            </a:pPr>
            <a:r>
              <a:t>Market Opportunity</a:t>
            </a:r>
          </a:p>
          <a:p>
            <a:pPr>
              <a:spcBef>
                <a:spcPts val="400"/>
              </a:spcBef>
              <a:defRPr sz="1500">
                <a:solidFill>
                  <a:srgbClr val="0EA5E9"/>
                </a:solidFill>
                <a:latin typeface="Arial"/>
              </a:defRPr>
            </a:pPr>
            <a:r>
              <a:t>High creator fee savings and exponential growth alignment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3291840" cy="4023360"/>
          </a:xfrm>
          <a:prstGeom prst="rect">
            <a:avLst/>
          </a:prstGeom>
          <a:solidFill>
            <a:srgbClr val="161C2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291840" cy="4023360"/>
          </a:xfrm>
          <a:prstGeom prst="rect">
            <a:avLst/>
          </a:prstGeom>
          <a:noFill/>
        </p:spPr>
        <p:txBody>
          <a:bodyPr wrap="square" lIns="164592" rIns="164592" tIns="164592" bIns="164592">
            <a:spAutoFit/>
          </a:bodyPr>
          <a:lstStyle/>
          <a:p>
            <a:pPr>
              <a:defRPr sz="1800" b="1">
                <a:solidFill>
                  <a:srgbClr val="EF4444"/>
                </a:solidFill>
                <a:latin typeface="Arial"/>
              </a:defRPr>
            </a:pPr>
            <a:r>
              <a:t>Upwork (Legacy Freelance)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Standard Platform Fee: 20%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FX &amp; Wire Fees: 2% to 4%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Payout Settling: 5-7 business days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Lock-In: High, reputation is non-portable.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AI: No automated verification support.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920240"/>
            <a:ext cx="3291840" cy="4023360"/>
          </a:xfrm>
          <a:prstGeom prst="rect">
            <a:avLst/>
          </a:prstGeom>
          <a:solidFill>
            <a:srgbClr val="161C2D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920240"/>
            <a:ext cx="3291840" cy="4023360"/>
          </a:xfrm>
          <a:prstGeom prst="rect">
            <a:avLst/>
          </a:prstGeom>
          <a:noFill/>
        </p:spPr>
        <p:txBody>
          <a:bodyPr wrap="square" lIns="164592" rIns="164592" tIns="164592" bIns="164592">
            <a:spAutoFit/>
          </a:bodyPr>
          <a:lstStyle/>
          <a:p>
            <a:pPr>
              <a:defRPr sz="1800" b="1">
                <a:solidFill>
                  <a:srgbClr val="94A3B8"/>
                </a:solidFill>
                <a:latin typeface="Arial"/>
              </a:defRPr>
            </a:pPr>
            <a:r>
              <a:t>Whop (Modern Creator Hub)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Standard Platform Fee: 5%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FX &amp; Stripe Fees: 2.9% + $0.30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Payout Settling: 2-3 business days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Lock-In: Medium, limited API portability.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AI: No integrated AI work auditing.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920240"/>
            <a:ext cx="3291840" cy="4023360"/>
          </a:xfrm>
          <a:prstGeom prst="rect">
            <a:avLst/>
          </a:prstGeom>
          <a:solidFill>
            <a:srgbClr val="102D2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920240"/>
            <a:ext cx="3291840" cy="4023360"/>
          </a:xfrm>
          <a:prstGeom prst="rect">
            <a:avLst/>
          </a:prstGeom>
          <a:noFill/>
        </p:spPr>
        <p:txBody>
          <a:bodyPr wrap="square" lIns="164592" rIns="164592" tIns="164592" bIns="164592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r>
              <a:t>Arc Work (On-chain Platform)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Platform Transaction Cut: 2.5%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FX &amp; Wire Fees: 0% (USDC Native)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Payout Settling: &lt;1 second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Lock-In: Zero (ERC-8004 identity)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AI: Native Vision API verification.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486400"/>
            <a:ext cx="10728655" cy="731520"/>
          </a:xfrm>
          <a:prstGeom prst="rect">
            <a:avLst/>
          </a:prstGeom>
          <a:solidFill>
            <a:srgbClr val="102D2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486400"/>
            <a:ext cx="10728655" cy="73152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Arial"/>
              </a:defRPr>
            </a:pPr>
            <a:r>
              <a:t>SAVINGS ADVANTAGE: A creator earning $20,000 saves $3,500.00 vs Upwork and $500.00 vs Whop in pure transaction margin.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rial"/>
              </a:defRPr>
            </a:pPr>
            <a:r>
              <a:t>Business Model</a:t>
            </a:r>
          </a:p>
          <a:p>
            <a:pPr>
              <a:spcBef>
                <a:spcPts val="400"/>
              </a:spcBef>
              <a:defRPr sz="1500">
                <a:solidFill>
                  <a:srgbClr val="0EA5E9"/>
                </a:solidFill>
                <a:latin typeface="Arial"/>
              </a:defRPr>
            </a:pPr>
            <a:r>
              <a:t>Platform monetization with minimal transaction friction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291840" cy="4023360"/>
          </a:xfrm>
          <a:prstGeom prst="rect">
            <a:avLst/>
          </a:prstGeom>
          <a:solidFill>
            <a:srgbClr val="161C2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291840" cy="4023360"/>
          </a:xfrm>
          <a:prstGeom prst="rect">
            <a:avLst/>
          </a:prstGeom>
          <a:noFill/>
        </p:spPr>
        <p:txBody>
          <a:bodyPr wrap="square" lIns="164592" rIns="164592" tIns="164592" bIns="164592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1. Flat Payout Cut</a:t>
            </a:r>
          </a:p>
          <a:p>
            <a:pPr>
              <a:spcBef>
                <a:spcPts val="400"/>
              </a:spcBef>
              <a:defRPr sz="1400" b="1">
                <a:solidFill>
                  <a:srgbClr val="0EA5E9"/>
                </a:solidFill>
                <a:latin typeface="Arial"/>
              </a:defRPr>
            </a:pPr>
            <a:r>
              <a:t>2.5% Fee Split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1.5% allocated to Net Platform Treasury to fund ecosystem reserves.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1.0% allocated to Relayer gas coverage and network validators.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High-margin model driven by automated L2 scaling.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011680"/>
            <a:ext cx="3291840" cy="4023360"/>
          </a:xfrm>
          <a:prstGeom prst="rect">
            <a:avLst/>
          </a:prstGeom>
          <a:solidFill>
            <a:srgbClr val="161C2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2011680"/>
            <a:ext cx="3291840" cy="4023360"/>
          </a:xfrm>
          <a:prstGeom prst="rect">
            <a:avLst/>
          </a:prstGeom>
          <a:noFill/>
        </p:spPr>
        <p:txBody>
          <a:bodyPr wrap="square" lIns="164592" rIns="164592" tIns="164592" bIns="164592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2. AI Surcharges</a:t>
            </a:r>
          </a:p>
          <a:p>
            <a:pPr>
              <a:spcBef>
                <a:spcPts val="400"/>
              </a:spcBef>
              <a:defRPr sz="1400" b="1">
                <a:solidFill>
                  <a:srgbClr val="0EA5E9"/>
                </a:solidFill>
                <a:latin typeface="Arial"/>
              </a:defRPr>
            </a:pPr>
            <a:r>
              <a:t>Agent Computing Fee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Minor $0.01 - $0.05 surcharge applied per active agent execution step.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Offsets OpenAI token costs while retaining clean profit yield.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Scalable monetization with autonomous task volumes.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2011680"/>
            <a:ext cx="3291840" cy="4023360"/>
          </a:xfrm>
          <a:prstGeom prst="rect">
            <a:avLst/>
          </a:prstGeom>
          <a:solidFill>
            <a:srgbClr val="161C2D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2011680"/>
            <a:ext cx="3291840" cy="4023360"/>
          </a:xfrm>
          <a:prstGeom prst="rect">
            <a:avLst/>
          </a:prstGeom>
          <a:noFill/>
        </p:spPr>
        <p:txBody>
          <a:bodyPr wrap="square" lIns="164592" rIns="164592" tIns="164592" bIns="164592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3. On-chain SaaS</a:t>
            </a:r>
          </a:p>
          <a:p>
            <a:pPr>
              <a:spcBef>
                <a:spcPts val="400"/>
              </a:spcBef>
              <a:defRPr sz="1400" b="1">
                <a:solidFill>
                  <a:srgbClr val="0EA5E9"/>
                </a:solidFill>
                <a:latin typeface="Arial"/>
              </a:defRPr>
            </a:pPr>
            <a:r>
              <a:t>ERC-8191 Subscriptions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Monthly tier options starting at 20 USDC.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Grants access to premium seller toolkits, API access, and visual editor templates.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Auto-deducted directly from creator's wallet on-chain.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rial"/>
              </a:defRPr>
            </a:pPr>
            <a:r>
              <a:t>Future Roadmap</a:t>
            </a:r>
          </a:p>
          <a:p>
            <a:pPr>
              <a:spcBef>
                <a:spcPts val="400"/>
              </a:spcBef>
              <a:defRPr sz="1500">
                <a:solidFill>
                  <a:srgbClr val="0EA5E9"/>
                </a:solidFill>
                <a:latin typeface="Arial"/>
              </a:defRPr>
            </a:pPr>
            <a:r>
              <a:t>Direct path to Mainnet launch and fiat integration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291840" cy="4023360"/>
          </a:xfrm>
          <a:prstGeom prst="rect">
            <a:avLst/>
          </a:prstGeom>
          <a:solidFill>
            <a:srgbClr val="102D2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291840" cy="4023360"/>
          </a:xfrm>
          <a:prstGeom prst="rect">
            <a:avLst/>
          </a:prstGeom>
          <a:noFill/>
        </p:spPr>
        <p:txBody>
          <a:bodyPr wrap="square" lIns="164592" rIns="164592" tIns="164592" bIns="164592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Phase 1: Foundation</a:t>
            </a:r>
          </a:p>
          <a:p>
            <a:pPr>
              <a:spcBef>
                <a:spcPts val="400"/>
              </a:spcBef>
              <a:defRPr sz="1300" b="1">
                <a:solidFill>
                  <a:srgbClr val="10B981"/>
                </a:solidFill>
                <a:latin typeface="Arial"/>
              </a:defRPr>
            </a:pPr>
            <a:r>
              <a:t>COMPLETED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Smart contract escrow release engine on Sepolia/Arc L2.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Circle Developer Wallet OAuth client setup.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Basic Visual AI validation service endpoint.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011680"/>
            <a:ext cx="3291840" cy="4023360"/>
          </a:xfrm>
          <a:prstGeom prst="rect">
            <a:avLst/>
          </a:prstGeom>
          <a:solidFill>
            <a:srgbClr val="102D2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2011680"/>
            <a:ext cx="3291840" cy="4023360"/>
          </a:xfrm>
          <a:prstGeom prst="rect">
            <a:avLst/>
          </a:prstGeom>
          <a:noFill/>
        </p:spPr>
        <p:txBody>
          <a:bodyPr wrap="square" lIns="164592" rIns="164592" tIns="164592" bIns="164592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Phase 2: Overhaul</a:t>
            </a:r>
          </a:p>
          <a:p>
            <a:pPr>
              <a:spcBef>
                <a:spcPts val="400"/>
              </a:spcBef>
              <a:defRPr sz="1300" b="1">
                <a:solidFill>
                  <a:srgbClr val="10B981"/>
                </a:solidFill>
                <a:latin typeface="Arial"/>
              </a:defRPr>
            </a:pPr>
            <a:r>
              <a:t>COMPLETED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Collapsible buyer/seller navigation dashboard workspace.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OKLCH design system style migration.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x402 Learning player framework &amp; tool catalog index.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2011680"/>
            <a:ext cx="3291840" cy="4023360"/>
          </a:xfrm>
          <a:prstGeom prst="rect">
            <a:avLst/>
          </a:prstGeom>
          <a:solidFill>
            <a:srgbClr val="161C2D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2011680"/>
            <a:ext cx="3291840" cy="4023360"/>
          </a:xfrm>
          <a:prstGeom prst="rect">
            <a:avLst/>
          </a:prstGeom>
          <a:noFill/>
        </p:spPr>
        <p:txBody>
          <a:bodyPr wrap="square" lIns="164592" rIns="164592" tIns="164592" bIns="164592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Phase 3: Launch</a:t>
            </a:r>
          </a:p>
          <a:p>
            <a:pPr>
              <a:spcBef>
                <a:spcPts val="400"/>
              </a:spcBef>
              <a:defRPr sz="1300" b="1">
                <a:solidFill>
                  <a:srgbClr val="0EA5E9"/>
                </a:solidFill>
                <a:latin typeface="Arial"/>
              </a:defRPr>
            </a:pPr>
            <a:r>
              <a:t>PLANNED ROADMAP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Mainnet deployment &amp; developer SDK release.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Circle fiat on/off-ramp native checkout widgets.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• Cross-platform Zero-Knowledge (ZK) credential reputation export.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